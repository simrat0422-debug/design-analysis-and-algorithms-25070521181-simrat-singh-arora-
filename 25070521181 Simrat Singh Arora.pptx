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Minimum Spanning Tree using the Greedy Approach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4206240" cy="1234440"/>
          </a:xfrm>
          <a:prstGeom prst="rect">
            <a:avLst/>
          </a:prstGeom>
          <a:solidFill>
            <a:srgbClr val="16384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9260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Simrat Singh Arora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25070521181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/ Batch: D1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Minimum Spanning Tree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  |  Simrat Singh Arora  |  PRN 25070521181  |  Section/Batch D1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connected, weighted, undirected graph G = (V, E)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spanning tree connects all V vertices using exactly V − 1 edges, with no cycles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 Spanning Tree (MST) is the spanning tree with the smallest total edge weight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Kruskal's algorithm: build the MST edge by edge, always choosing the cheapest safe edge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2801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12801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− 1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2801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in an MST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233172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3317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3317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allowed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338328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33832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3832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of Kruskal's Algorithm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  |  Simrat Singh Arora  |  PRN 25070521181  |  Section/Batch D1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 the smallest-weight edge available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any edge that would create a cycle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as V separate trees; merges them into one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Correctness: by the cut property, the lightest edge crossing any cut of the graph belongs to some MST, so each greedy choice is safe.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  |  Simrat Singh Arora  |  PRN 25070521181  |  Section/Batch D1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143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edges in non-decreasing order of weight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709928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7099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disjoint set (Union-Find) with each vertex in its own set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276856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276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27685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next smallest edge (u, v)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2843784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378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 and v are in different sets, add the edge to the MST and union the sets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410712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4107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discard the edge (it forms a cycle)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977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the MST has V − 1 edges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  |  Simrat Singh Arora  |  PRN 25070521181  |  Section/Batch D1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0B1E30"/>
          </a:solidFill>
          <a:ln w="12700">
            <a:solidFill>
              <a:srgbClr val="0B1E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KRUSKAL(G):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= {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vertex v in G.V: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MAKE-SET(v)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 G.E by weight 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edge (u, v) in sorted G.E: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FIND-SET(u) != FIND-SET(v):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 = A ∪ { (u, v)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UNION(u, v)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(Disjoint Set)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64592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FIND-SET: which component does a vertex belong to?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UNION: merge two components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compression and union by rank make operations nearly O(1)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  |  Simrat Singh Arora  |  PRN 25070521181  |  Section/Batch D1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flipV="1">
            <a:off x="822960" y="1463040"/>
            <a:ext cx="1463040" cy="27432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37360"/>
            <a:ext cx="274320" cy="118872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463040"/>
            <a:ext cx="146304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97280" y="1463040"/>
            <a:ext cx="1188720" cy="14630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463040"/>
            <a:ext cx="457200" cy="137160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743200" y="1737360"/>
            <a:ext cx="1005840" cy="109728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97280" y="2834640"/>
            <a:ext cx="164592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926080"/>
            <a:ext cx="365760" cy="118872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463040" y="2834640"/>
            <a:ext cx="1280160" cy="1280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834640"/>
            <a:ext cx="548640" cy="128016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4114800"/>
            <a:ext cx="1828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08176" y="1499616"/>
            <a:ext cx="29260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" y="2231136"/>
            <a:ext cx="29260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871216" y="1499616"/>
            <a:ext cx="29260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545336" y="2093976"/>
            <a:ext cx="29260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368296" y="2048256"/>
            <a:ext cx="29260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099816" y="2185416"/>
            <a:ext cx="29260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773936" y="2779776"/>
            <a:ext cx="29260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" y="3419856"/>
            <a:ext cx="29260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56816" y="3374136"/>
            <a:ext cx="29260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871216" y="3374136"/>
            <a:ext cx="29260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231136" y="4014216"/>
            <a:ext cx="29260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03120" y="1280160"/>
            <a:ext cx="365760" cy="365760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031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566160" y="1554480"/>
            <a:ext cx="365760" cy="365760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661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14400" y="2743200"/>
            <a:ext cx="365760" cy="365760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560320" y="2651760"/>
            <a:ext cx="365760" cy="365760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603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280160" y="3931920"/>
            <a:ext cx="365760" cy="365760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28016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108960" y="3931920"/>
            <a:ext cx="365760" cy="365760"/>
          </a:xfrm>
          <a:prstGeom prst="ellipse">
            <a:avLst/>
          </a:prstGeom>
          <a:solidFill>
            <a:srgbClr val="0F2A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10896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43000"/>
          <a:ext cx="3840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914400"/>
                <a:gridCol w="155448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C–E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D–F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E–F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(cycle)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E–G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" name="Text 41"/>
          <p:cNvSpPr txBox="1"/>
          <p:nvPr/>
        </p:nvSpPr>
        <p:spPr>
          <a:xfrm>
            <a:off x="4846320" y="4114800"/>
            <a:ext cx="3840480" cy="502920"/>
          </a:xfrm>
          <a:prstGeom prst="rect">
            <a:avLst/>
          </a:prstGeom>
          <a:solidFill>
            <a:srgbClr val="CCFB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weight = 5 + 5 + 6 + 7 + 7 + 9 = 39   (6 edges for 7 vertices)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Tracing the Union-Find Sets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  |  Simrat Singh Arora  |  PRN 25070521181  |  Section/Batch D1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{A} {B} {C} {D} {E} {F} {G}   (every vertex in its own set)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31089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4173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 A–D (5)</a:t>
            </a:r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ACCEPT 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{A,D} {B} {C} {E} {F} {G}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77393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 C–E (5)</a:t>
            </a:r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ACCEPT 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{A,D} {C,E} {B} {F} {G}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30552"/>
            <a:ext cx="8229600" cy="31089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1305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 D–F (6)</a:t>
            </a:r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ACCEPT 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{A,D,F} {C,E} {B} {G}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48716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 A–B (7)</a:t>
            </a:r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ACCEPT 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{A,B,D,F} {C,E} {G}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43784"/>
            <a:ext cx="8229600" cy="31089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8437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 B–E (7)</a:t>
            </a:r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ACCEPT 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{A,B,C,D,E,F} {G}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200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  B–C (8)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REJECT 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already in the big set → cycle, skip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57016"/>
            <a:ext cx="8229600" cy="31089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55701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   E–F (8)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REJECT 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already in the big set → cycle, skip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91363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  B–D (9)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REJECT 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already in the big set → cycle, skip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270248"/>
            <a:ext cx="8229600" cy="310896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2702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  E–G (9)</a:t>
            </a:r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ACCEPT 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{A,B,C,D,E,F,G}  → 6 edges, MST complete!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Some Edges Rejected?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  |  Simrat Singh Arora  |  PRN 25070521181  |  Section/Batch D1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B–C  (8)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and C are already connected through B–E and E–C.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Cycle: B → E → C → 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E–F  (8)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and F are already connected through E–B, B–A, A–D and D–F.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Cycle: E → B → A → D → F → 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B–D  (9)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and D are already connected through B–A and A–D.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Cycle: B → A → D → B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CCFB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MST:  </a:t>
            </a:r>
            <a:pPr algn="ctr" indent="0" marL="0">
              <a:buNone/>
            </a:pPr>
            <a:r>
              <a:rPr lang="en-US" sz="16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A–D, C–E, D–F, A–B, B–E, E–G      Total weight = 39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Space Complexity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  |  Simrat Singh Arora  |  PRN 25070521181  |  Section/Batch D1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 log V)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51206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the edges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MAKE-SET 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FIND / UNION 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· α(V)) ≈ O(E)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E) = O(E log 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 (edges + sets)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943600" y="2514600"/>
            <a:ext cx="2743200" cy="2029968"/>
          </a:xfrm>
          <a:prstGeom prst="roundRect">
            <a:avLst>
              <a:gd name="adj" fmla="val 4505"/>
            </a:avLst>
          </a:prstGeom>
          <a:solidFill>
            <a:srgbClr val="F4F7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80760" y="26060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 log E = E log V?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E ≤ V², log E ≤ 2 log V, so both bounds are equivalent. Sorting dominates the running time.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vs Prim's Algorithm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  |  Simrat Singh Arora  |  PRN 25070521181  |  Section/Batch D1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Kruskal's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Prim's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Edge-based, greedy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Vertex-based, greedy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from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edge overall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arbitrary vertex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 of trees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growing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Union-Find + sorting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 / min-heap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 log V) with heap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graphs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graphs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Limitations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  |  Simrat Singh Arora  |  PRN 25070521181  |  Section/Batch D1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002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(LAN, telecom, cable layouts)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Road, pipeline and electrical grid planning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in machine learning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 for the Travelling Salesman Problem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limits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6002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on sparse graphs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disconnected graphs (gives a minimum spanning forest)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all edges sorted up front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Prim on very dense graphs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is a classic greedy method for building an MST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edges, add the cheapest one that does not form a cycle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O(E log V) time using Union-Find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sparse graphs and many real-world network problems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Simrat Singh Arora  |  PRN 25070521181  |  Section/Batch D1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Claude (Anthropic AI)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Kruskal's Algorithm</dc:title>
  <dc:subject>PptxGenJS Presentation</dc:subject>
  <dc:creator>Simrat Singh Arora</dc:creator>
  <cp:lastModifiedBy>Simrat Singh Arora</cp:lastModifiedBy>
  <cp:revision>1</cp:revision>
  <dcterms:created xsi:type="dcterms:W3CDTF">2026-10-07T16:13:38Z</dcterms:created>
  <dcterms:modified xsi:type="dcterms:W3CDTF">2026-10-07T16:13:38Z</dcterms:modified>
</cp:coreProperties>
</file>